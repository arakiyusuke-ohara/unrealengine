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437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を使ったアクションゲーム制作を体験します。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74819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実際にゲーム会社が使っているゲームエンジン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dirty="0"/>
              <a:t>これまで数々の作品が</a:t>
            </a:r>
            <a:r>
              <a:rPr lang="en-US" altLang="ja-JP" sz="2400" dirty="0"/>
              <a:t>Unreal Engine</a:t>
            </a:r>
            <a:r>
              <a:rPr lang="ja-JP" altLang="en-US" sz="2400" dirty="0"/>
              <a:t>で作られています。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■代表作品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</a:t>
            </a:r>
            <a:r>
              <a:rPr lang="en-US" altLang="ja-JP" sz="2400" dirty="0"/>
              <a:t>Fortnite</a:t>
            </a:r>
            <a:endParaRPr lang="en-US" altLang="ja-JP" sz="2400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FINAL FANTASY Ⅶ REMAKE</a:t>
            </a:r>
          </a:p>
          <a:p>
            <a:r>
              <a:rPr lang="ja-JP" altLang="en-US" sz="2400" dirty="0"/>
              <a:t>・ドラゴンボール</a:t>
            </a:r>
            <a:r>
              <a:rPr lang="en-US" altLang="ja-JP" sz="2400" dirty="0"/>
              <a:t>Z</a:t>
            </a:r>
            <a:r>
              <a:rPr lang="ja-JP" altLang="en-US" sz="2400" dirty="0"/>
              <a:t> </a:t>
            </a:r>
            <a:r>
              <a:rPr lang="en-US" altLang="ja-JP" sz="2400" dirty="0"/>
              <a:t>KAKAROT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ONE PEACE ODYSSEY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LIVE A LIVE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OCTOPATH TRAVELER</a:t>
            </a:r>
          </a:p>
          <a:p>
            <a:endParaRPr lang="en-US" altLang="ja-JP" sz="2400" dirty="0"/>
          </a:p>
          <a:p>
            <a:r>
              <a:rPr lang="ja-JP" altLang="en-US" sz="2400" dirty="0"/>
              <a:t>他にもたくさんあります。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22413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2448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早速</a:t>
            </a:r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を起動しますが、</a:t>
            </a:r>
            <a:endParaRPr kumimoji="1" lang="en-US" altLang="ja-JP" sz="2400" dirty="0"/>
          </a:p>
          <a:p>
            <a:r>
              <a:rPr lang="ja-JP" altLang="en-US" sz="2400" dirty="0"/>
              <a:t>その前にプログラムを書くための</a:t>
            </a:r>
            <a:r>
              <a:rPr lang="en-US" altLang="ja-JP" sz="2400" b="1" dirty="0">
                <a:solidFill>
                  <a:srgbClr val="FF0000"/>
                </a:solidFill>
              </a:rPr>
              <a:t>Visual Studio</a:t>
            </a:r>
            <a:r>
              <a:rPr lang="ja-JP" altLang="en-US" sz="2400" dirty="0"/>
              <a:t>から起動します。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710844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04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00B050"/>
                </a:solidFill>
              </a:rPr>
              <a:t>実行ボタン</a:t>
            </a:r>
            <a:r>
              <a:rPr kumimoji="1" lang="ja-JP" altLang="en-US" sz="2400" dirty="0"/>
              <a:t>を押すと</a:t>
            </a:r>
            <a:r>
              <a:rPr kumimoji="1" lang="en-US" altLang="ja-JP" sz="2400" dirty="0"/>
              <a:t>Unreal Engine</a:t>
            </a:r>
            <a:r>
              <a:rPr kumimoji="1" lang="ja-JP" altLang="en-US" sz="2400" dirty="0"/>
              <a:t>が起動します。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50782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これが</a:t>
            </a:r>
            <a:r>
              <a:rPr lang="en-US" altLang="ja-JP" sz="2400" dirty="0"/>
              <a:t>Unreal Engine</a:t>
            </a:r>
            <a:r>
              <a:rPr lang="ja-JP" altLang="en-US" sz="2400" dirty="0"/>
              <a:t>の画面です！！</a:t>
            </a:r>
            <a:endParaRPr lang="en-US" altLang="ja-JP" sz="2400" dirty="0"/>
          </a:p>
          <a:p>
            <a:r>
              <a:rPr lang="ja-JP" altLang="en-US" sz="2400" dirty="0"/>
              <a:t>真ん中の大きな画面がゲームのステージになります。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68893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ステージに</a:t>
            </a:r>
            <a:r>
              <a:rPr lang="ja-JP" altLang="en-US" sz="2400" b="1" dirty="0">
                <a:solidFill>
                  <a:srgbClr val="FF9900"/>
                </a:solidFill>
              </a:rPr>
              <a:t>コイン</a:t>
            </a:r>
            <a:r>
              <a:rPr lang="ja-JP" altLang="en-US" sz="2400" dirty="0"/>
              <a:t>を置いてみましょう。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582325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実行ボタン</a:t>
            </a:r>
            <a:r>
              <a:rPr lang="ja-JP" altLang="en-US" sz="2400" dirty="0"/>
              <a:t>を押すとゲームが始まります。</a:t>
            </a:r>
            <a:endParaRPr lang="en-US" altLang="ja-JP" sz="2400" dirty="0"/>
          </a:p>
          <a:p>
            <a:r>
              <a:rPr lang="ja-JP" altLang="en-US" sz="2400" dirty="0"/>
              <a:t>さきほど置いた</a:t>
            </a:r>
            <a:r>
              <a:rPr lang="ja-JP" altLang="en-US" sz="2400" b="1" dirty="0">
                <a:solidFill>
                  <a:srgbClr val="FF9900"/>
                </a:solidFill>
              </a:rPr>
              <a:t>コイン</a:t>
            </a:r>
            <a:r>
              <a:rPr lang="ja-JP" altLang="en-US" sz="2400" dirty="0"/>
              <a:t>を触ってみましょう。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A866068-CB18-4145-BEBA-A61ED3505C5C}"/>
              </a:ext>
            </a:extLst>
          </p:cNvPr>
          <p:cNvSpPr txBox="1"/>
          <p:nvPr/>
        </p:nvSpPr>
        <p:spPr>
          <a:xfrm>
            <a:off x="567541" y="553504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触っても何も起きないですね。。。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75442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ステージのものに触りたい場合は、</a:t>
            </a:r>
            <a:r>
              <a:rPr lang="ja-JP" altLang="en-US" sz="2400" b="1" dirty="0">
                <a:solidFill>
                  <a:srgbClr val="FF0000"/>
                </a:solidFill>
              </a:rPr>
              <a:t>当たり判定</a:t>
            </a:r>
            <a:r>
              <a:rPr lang="ja-JP" altLang="en-US" sz="2400" dirty="0"/>
              <a:t>のプログラムを作ります。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70C0"/>
                </a:solidFill>
              </a:rPr>
              <a:t>BP_Coin</a:t>
            </a:r>
            <a:r>
              <a:rPr lang="ja-JP" altLang="en-US" sz="2400" dirty="0"/>
              <a:t>をダブルクリックしましょう。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14600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41370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開いたものは</a:t>
            </a:r>
            <a:r>
              <a:rPr lang="ja-JP" altLang="en-US" sz="2400" b="1" dirty="0">
                <a:solidFill>
                  <a:srgbClr val="0070C0"/>
                </a:solidFill>
              </a:rPr>
              <a:t>ブループリント</a:t>
            </a:r>
            <a:r>
              <a:rPr lang="ja-JP" altLang="en-US" sz="2400" dirty="0"/>
              <a:t>と呼ばれる</a:t>
            </a:r>
            <a:r>
              <a:rPr lang="ja-JP" altLang="en-US" sz="2400" b="1" dirty="0">
                <a:solidFill>
                  <a:srgbClr val="0070C0"/>
                </a:solidFill>
              </a:rPr>
              <a:t>コインの設計書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ブループリントでは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プログラムを書いたり、細かい設定ができたりします。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Unreal Engine</a:t>
            </a:r>
            <a:r>
              <a:rPr lang="ja-JP" altLang="en-US" sz="2400" dirty="0"/>
              <a:t>での開発ではとても大事な要素で、このあともたくさん使います。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64466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イベントグラフ</a:t>
            </a:r>
            <a:r>
              <a:rPr lang="ja-JP" altLang="en-US" sz="2400" dirty="0"/>
              <a:t>で</a:t>
            </a:r>
            <a:r>
              <a:rPr lang="ja-JP" altLang="en-US" sz="2400" b="1" dirty="0">
                <a:solidFill>
                  <a:srgbClr val="FF0000"/>
                </a:solidFill>
              </a:rPr>
              <a:t>ブループリントのプログラムを書く</a:t>
            </a:r>
            <a:r>
              <a:rPr lang="ja-JP" altLang="en-US" sz="2400" dirty="0"/>
              <a:t>ことができます。</a:t>
            </a:r>
            <a:endParaRPr lang="en-US" altLang="ja-JP" sz="2400" dirty="0"/>
          </a:p>
          <a:p>
            <a:r>
              <a:rPr lang="ja-JP" altLang="en-US" sz="2400" dirty="0"/>
              <a:t>ここに当たり判定のプログラムを書いていきます。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3477FE4-E3BE-40C8-93E0-30DD901E2BE8}"/>
              </a:ext>
            </a:extLst>
          </p:cNvPr>
          <p:cNvSpPr txBox="1"/>
          <p:nvPr/>
        </p:nvSpPr>
        <p:spPr>
          <a:xfrm>
            <a:off x="567542" y="5641571"/>
            <a:ext cx="10956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/>
              <a:t>Overlap</a:t>
            </a:r>
            <a:r>
              <a:rPr lang="ja-JP" altLang="en-US" sz="2400" dirty="0"/>
              <a:t>とは</a:t>
            </a:r>
            <a:r>
              <a:rPr lang="ja-JP" altLang="en-US" sz="2400" b="1" dirty="0"/>
              <a:t>重なる</a:t>
            </a:r>
            <a:r>
              <a:rPr lang="ja-JP" altLang="en-US" sz="2400" dirty="0"/>
              <a:t>という意味です。</a:t>
            </a:r>
            <a:endParaRPr lang="en-US" altLang="ja-JP" sz="2400" dirty="0"/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コインと重なったら、重なった処理をしてね。</a:t>
            </a:r>
            <a:r>
              <a:rPr lang="ja-JP" altLang="en-US" sz="2400" dirty="0"/>
              <a:t>というプログラムです。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667245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Unreal Engine</a:t>
            </a:r>
            <a:r>
              <a:rPr lang="ja-JP" altLang="en-US" sz="2400" dirty="0"/>
              <a:t>では</a:t>
            </a:r>
            <a:r>
              <a:rPr lang="en-US" altLang="ja-JP" sz="2400" b="1" dirty="0">
                <a:solidFill>
                  <a:srgbClr val="FF0000"/>
                </a:solidFill>
              </a:rPr>
              <a:t>C++</a:t>
            </a:r>
            <a:r>
              <a:rPr lang="ja-JP" altLang="en-US" sz="2400" dirty="0"/>
              <a:t>という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プログラム言語</a:t>
            </a:r>
            <a:r>
              <a:rPr lang="ja-JP" altLang="en-US" sz="2400" dirty="0"/>
              <a:t>も使います。</a:t>
            </a:r>
            <a:endParaRPr lang="en-US" altLang="ja-JP" sz="2400" dirty="0"/>
          </a:p>
          <a:p>
            <a:r>
              <a:rPr lang="ja-JP" altLang="en-US" sz="2400" dirty="0"/>
              <a:t>こちらで、</a:t>
            </a:r>
            <a:r>
              <a:rPr lang="ja-JP" altLang="en-US" sz="2400" b="1" dirty="0">
                <a:solidFill>
                  <a:srgbClr val="FF0000"/>
                </a:solidFill>
              </a:rPr>
              <a:t>コインと重なった処理のプログラム</a:t>
            </a:r>
            <a:r>
              <a:rPr lang="ja-JP" altLang="en-US" sz="2400" dirty="0"/>
              <a:t>を書いていきます。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EAFAF2-BDAD-46C4-BE93-C91CB15D7D27}"/>
              </a:ext>
            </a:extLst>
          </p:cNvPr>
          <p:cNvSpPr txBox="1"/>
          <p:nvPr/>
        </p:nvSpPr>
        <p:spPr>
          <a:xfrm>
            <a:off x="567542" y="5788429"/>
            <a:ext cx="5198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書いたら</a:t>
            </a:r>
            <a:r>
              <a:rPr lang="en-US" altLang="ja-JP" sz="2400" b="1" dirty="0">
                <a:solidFill>
                  <a:srgbClr val="FF0000"/>
                </a:solidFill>
              </a:rPr>
              <a:t>Ctrl</a:t>
            </a:r>
            <a:r>
              <a:rPr lang="ja-JP" altLang="en-US" sz="2400" b="1" dirty="0">
                <a:solidFill>
                  <a:srgbClr val="FF0000"/>
                </a:solidFill>
              </a:rPr>
              <a:t>＋</a:t>
            </a:r>
            <a:r>
              <a:rPr lang="en-US" altLang="ja-JP" sz="2400" b="1" dirty="0">
                <a:solidFill>
                  <a:srgbClr val="FF0000"/>
                </a:solidFill>
              </a:rPr>
              <a:t>S</a:t>
            </a:r>
            <a:r>
              <a:rPr lang="ja-JP" altLang="en-US" sz="2400" b="1" dirty="0">
                <a:solidFill>
                  <a:srgbClr val="FF0000"/>
                </a:solidFill>
              </a:rPr>
              <a:t>で保存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12901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C++</a:t>
            </a:r>
            <a:r>
              <a:rPr lang="ja-JP" altLang="en-US" sz="2400" b="1" dirty="0">
                <a:solidFill>
                  <a:srgbClr val="FF0000"/>
                </a:solidFill>
              </a:rPr>
              <a:t>を書いたら</a:t>
            </a:r>
            <a:r>
              <a:rPr lang="en-US" altLang="ja-JP" sz="2400" b="1" dirty="0">
                <a:solidFill>
                  <a:srgbClr val="FF0000"/>
                </a:solidFill>
              </a:rPr>
              <a:t>Unreal Engine</a:t>
            </a:r>
            <a:r>
              <a:rPr lang="ja-JP" altLang="en-US" sz="2400" b="1" dirty="0">
                <a:solidFill>
                  <a:srgbClr val="FF0000"/>
                </a:solidFill>
              </a:rPr>
              <a:t>側に教えなければいけません。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右下に小さな</a:t>
            </a:r>
            <a:r>
              <a:rPr lang="ja-JP" altLang="en-US" sz="2400" b="1" dirty="0">
                <a:solidFill>
                  <a:srgbClr val="FF0000"/>
                </a:solidFill>
              </a:rPr>
              <a:t>コンパイルボタン</a:t>
            </a:r>
            <a:r>
              <a:rPr lang="ja-JP" altLang="en-US" sz="2400" dirty="0"/>
              <a:t>があるので、押してみましょう。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6EAFAF2-BDAD-46C4-BE93-C91CB15D7D27}"/>
              </a:ext>
            </a:extLst>
          </p:cNvPr>
          <p:cNvSpPr txBox="1"/>
          <p:nvPr/>
        </p:nvSpPr>
        <p:spPr>
          <a:xfrm>
            <a:off x="567542" y="5788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</a:t>
            </a:r>
            <a:r>
              <a:rPr lang="ja-JP" altLang="en-US" sz="2400" b="1" dirty="0">
                <a:solidFill>
                  <a:srgbClr val="FF9900"/>
                </a:solidFill>
              </a:rPr>
              <a:t>コイン</a:t>
            </a:r>
            <a:r>
              <a:rPr lang="ja-JP" altLang="en-US" sz="2400" dirty="0"/>
              <a:t>がとれるか確認しましょう！！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51649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ステージを進めていくと、</a:t>
            </a:r>
            <a:r>
              <a:rPr lang="ja-JP" altLang="en-US" sz="2400" b="1" dirty="0">
                <a:solidFill>
                  <a:srgbClr val="FF0000"/>
                </a:solidFill>
              </a:rPr>
              <a:t>敵</a:t>
            </a:r>
            <a:r>
              <a:rPr lang="ja-JP" altLang="en-US" sz="2400" dirty="0"/>
              <a:t>が出現します。</a:t>
            </a:r>
            <a:endParaRPr lang="en-US" altLang="ja-JP" sz="2400" dirty="0"/>
          </a:p>
          <a:p>
            <a:r>
              <a:rPr lang="ja-JP" altLang="en-US" sz="2400" dirty="0"/>
              <a:t>敵をやっつけるために、</a:t>
            </a:r>
            <a:r>
              <a:rPr lang="ja-JP" altLang="en-US" sz="2400" b="1" dirty="0">
                <a:solidFill>
                  <a:srgbClr val="FF0000"/>
                </a:solidFill>
              </a:rPr>
              <a:t>攻撃</a:t>
            </a:r>
            <a:r>
              <a:rPr lang="ja-JP" altLang="en-US" sz="2400" dirty="0"/>
              <a:t>をプログラムで実装していきます。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894489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647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C++</a:t>
            </a:r>
            <a:r>
              <a:rPr lang="ja-JP" altLang="en-US" sz="2400" dirty="0"/>
              <a:t>で以下のように書いてみましょう。</a:t>
            </a:r>
            <a:endParaRPr lang="en-US" altLang="ja-JP" sz="2400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91C99E-110B-477C-9BB7-A07A1B418655}"/>
              </a:ext>
            </a:extLst>
          </p:cNvPr>
          <p:cNvSpPr txBox="1"/>
          <p:nvPr/>
        </p:nvSpPr>
        <p:spPr>
          <a:xfrm>
            <a:off x="567542" y="5771495"/>
            <a:ext cx="83199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書き終わったら </a:t>
            </a:r>
            <a:r>
              <a:rPr lang="ja-JP" altLang="en-US" sz="2400" b="1" dirty="0">
                <a:solidFill>
                  <a:srgbClr val="FF0000"/>
                </a:solidFill>
              </a:rPr>
              <a:t>保存 → コンパイルボタン → 実行</a:t>
            </a:r>
            <a:r>
              <a:rPr lang="ja-JP" altLang="en-US" sz="2400" dirty="0"/>
              <a:t>をして、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X</a:t>
            </a:r>
            <a:r>
              <a:rPr lang="ja-JP" altLang="en-US" sz="2400" b="1" dirty="0">
                <a:solidFill>
                  <a:srgbClr val="0070C0"/>
                </a:solidFill>
              </a:rPr>
              <a:t>ボタン</a:t>
            </a:r>
            <a:r>
              <a:rPr lang="ja-JP" altLang="en-US" sz="2400" dirty="0"/>
              <a:t>を押してみましょう。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99895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アクションゲームで大事なことは、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敵をやっつけて気持ち良いと感じるかどうか</a:t>
            </a:r>
            <a:r>
              <a:rPr lang="ja-JP" altLang="en-US" sz="2400" dirty="0"/>
              <a:t>です。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今のままだと</a:t>
            </a:r>
            <a:r>
              <a:rPr lang="ja-JP" altLang="en-US" sz="2400" b="1" dirty="0">
                <a:solidFill>
                  <a:srgbClr val="0070C0"/>
                </a:solidFill>
              </a:rPr>
              <a:t>あまり気持ちよくない</a:t>
            </a:r>
            <a:r>
              <a:rPr lang="ja-JP" altLang="en-US" sz="2400" dirty="0"/>
              <a:t>ですよね。。</a:t>
            </a:r>
            <a:endParaRPr lang="en-US" altLang="ja-JP" sz="2400" dirty="0"/>
          </a:p>
          <a:p>
            <a:r>
              <a:rPr lang="ja-JP" altLang="en-US" sz="2400" dirty="0"/>
              <a:t>今回は、敵をやっつけて嬉しくなるように、</a:t>
            </a:r>
            <a:r>
              <a:rPr lang="ja-JP" altLang="en-US" sz="2400" b="1" dirty="0">
                <a:solidFill>
                  <a:srgbClr val="FF0000"/>
                </a:solidFill>
              </a:rPr>
              <a:t>演出</a:t>
            </a:r>
            <a:r>
              <a:rPr lang="ja-JP" altLang="en-US" sz="2400" dirty="0"/>
              <a:t>を追加します。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993863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弾丸が敵に当たったら</a:t>
            </a:r>
            <a:r>
              <a:rPr lang="ja-JP" altLang="en-US" sz="2400" b="1" dirty="0">
                <a:solidFill>
                  <a:srgbClr val="FF0000"/>
                </a:solidFill>
              </a:rPr>
              <a:t>ヒットエフェクト</a:t>
            </a:r>
            <a:r>
              <a:rPr lang="ja-JP" altLang="en-US" sz="2400" dirty="0"/>
              <a:t>が出るようにします。</a:t>
            </a:r>
            <a:endParaRPr lang="en-US" altLang="ja-JP" sz="2400" dirty="0"/>
          </a:p>
          <a:p>
            <a:r>
              <a:rPr lang="ja-JP" altLang="en-US" sz="2400" dirty="0"/>
              <a:t>エフェクトとは</a:t>
            </a:r>
            <a:r>
              <a:rPr lang="ja-JP" altLang="en-US" sz="2400" b="1" dirty="0">
                <a:solidFill>
                  <a:srgbClr val="FF0000"/>
                </a:solidFill>
              </a:rPr>
              <a:t>ゲームの飾りつけをするアニメーション</a:t>
            </a:r>
            <a:r>
              <a:rPr lang="ja-JP" altLang="en-US" sz="2400" dirty="0"/>
              <a:t>のことです。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炎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0070C0"/>
                </a:solidFill>
              </a:rPr>
              <a:t>電撃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FFC000"/>
                </a:solidFill>
              </a:rPr>
              <a:t>爆発</a:t>
            </a:r>
            <a:r>
              <a:rPr lang="ja-JP" altLang="en-US" sz="2400" dirty="0"/>
              <a:t>、</a:t>
            </a:r>
            <a:r>
              <a:rPr lang="ja-JP" altLang="en-US" sz="2400" b="1" dirty="0">
                <a:solidFill>
                  <a:srgbClr val="00B050"/>
                </a:solidFill>
              </a:rPr>
              <a:t>衝撃波</a:t>
            </a:r>
            <a:r>
              <a:rPr lang="ja-JP" altLang="en-US" sz="2400" dirty="0"/>
              <a:t>など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実行して弾丸を敵に当てましょう。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4298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ヒットストップ</a:t>
            </a:r>
            <a:r>
              <a:rPr lang="ja-JP" altLang="en-US" sz="2400" dirty="0"/>
              <a:t>を設定して、</a:t>
            </a:r>
            <a:r>
              <a:rPr lang="ja-JP" altLang="en-US" sz="2400" b="1" dirty="0">
                <a:solidFill>
                  <a:srgbClr val="FF0000"/>
                </a:solidFill>
              </a:rPr>
              <a:t>当たった感を強めます。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スマブラにも使われている、有名な演出です。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実行して弾丸を敵に当てましょう。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5805229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敵がやられたら</a:t>
            </a:r>
            <a:r>
              <a:rPr lang="ja-JP" altLang="en-US" sz="2400" b="1" dirty="0">
                <a:solidFill>
                  <a:srgbClr val="FF0000"/>
                </a:solidFill>
              </a:rPr>
              <a:t>吹っ飛ぶ</a:t>
            </a:r>
            <a:r>
              <a:rPr lang="ja-JP" altLang="en-US" sz="2400" dirty="0"/>
              <a:t>ようにしましょう。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97658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C++</a:t>
            </a:r>
            <a:r>
              <a:rPr lang="ja-JP" altLang="en-US" sz="2400" dirty="0"/>
              <a:t>を書いたので、</a:t>
            </a:r>
            <a:r>
              <a:rPr lang="ja-JP" altLang="en-US" sz="2400" b="1" dirty="0">
                <a:solidFill>
                  <a:srgbClr val="FF0000"/>
                </a:solidFill>
              </a:rPr>
              <a:t>保存、コンパイルを忘れないように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050659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敵が消えるときにもエフェクトを出しましょう。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F53DD6C-E45D-4399-9D63-AE50E346FE78}"/>
              </a:ext>
            </a:extLst>
          </p:cNvPr>
          <p:cNvSpPr txBox="1"/>
          <p:nvPr/>
        </p:nvSpPr>
        <p:spPr>
          <a:xfrm>
            <a:off x="567541" y="5763029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最初より、敵をやっつけることが楽しくなっているはずです！！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80757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ステージを進めて遊んでみましょう！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もっとこうしたら面白い！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もっとこんなことがしたい！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など意見があればどんどん言ってください！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00B050"/>
                </a:solidFill>
              </a:rPr>
              <a:t>来年のオープンキャンパスに採用されるかも</a:t>
            </a:r>
            <a:endParaRPr lang="en-US" altLang="ja-JP" sz="2400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50441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アクションゲーム制作体験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425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今日体験した</a:t>
            </a:r>
            <a:r>
              <a:rPr lang="en-US" altLang="ja-JP" sz="2400" b="1" dirty="0"/>
              <a:t>Unreal Engine</a:t>
            </a:r>
            <a:r>
              <a:rPr lang="ja-JP" altLang="en-US" sz="2400" dirty="0"/>
              <a:t>と</a:t>
            </a:r>
            <a:r>
              <a:rPr lang="en-US" altLang="ja-JP" sz="2400" b="1" dirty="0">
                <a:solidFill>
                  <a:srgbClr val="7030A0"/>
                </a:solidFill>
              </a:rPr>
              <a:t>Visual Studio</a:t>
            </a:r>
            <a:r>
              <a:rPr lang="ja-JP" altLang="en-US" sz="2400" dirty="0"/>
              <a:t>は</a:t>
            </a:r>
            <a:endParaRPr lang="en-US" altLang="ja-JP" sz="2400" dirty="0"/>
          </a:p>
          <a:p>
            <a:r>
              <a:rPr lang="ja-JP" altLang="en-US" sz="2400" dirty="0"/>
              <a:t>なんと。。</a:t>
            </a:r>
            <a:endParaRPr lang="en-US" altLang="ja-JP" sz="2400" dirty="0"/>
          </a:p>
        </p:txBody>
      </p:sp>
      <p:sp>
        <p:nvSpPr>
          <p:cNvPr id="2" name="爆発: 8 pt 1">
            <a:extLst>
              <a:ext uri="{FF2B5EF4-FFF2-40B4-BE49-F238E27FC236}">
                <a16:creationId xmlns:a16="http://schemas.microsoft.com/office/drawing/2014/main" id="{CC1A936E-A2FE-4C42-8F9D-C7A39772A4F7}"/>
              </a:ext>
            </a:extLst>
          </p:cNvPr>
          <p:cNvSpPr/>
          <p:nvPr/>
        </p:nvSpPr>
        <p:spPr>
          <a:xfrm>
            <a:off x="2167468" y="1614993"/>
            <a:ext cx="5841999" cy="3439606"/>
          </a:xfrm>
          <a:prstGeom prst="irregularSeal1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6000" b="1" dirty="0">
                <a:solidFill>
                  <a:srgbClr val="FF0000"/>
                </a:solidFill>
              </a:rPr>
              <a:t>無料！！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B91442-0F68-4810-9016-039FA293F10E}"/>
              </a:ext>
            </a:extLst>
          </p:cNvPr>
          <p:cNvSpPr txBox="1"/>
          <p:nvPr/>
        </p:nvSpPr>
        <p:spPr>
          <a:xfrm>
            <a:off x="7928160" y="4484563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です！！</a:t>
            </a:r>
            <a:endParaRPr lang="en-US" altLang="ja-JP" sz="24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1083F06-BD6B-487F-9DAE-F30BFCA1754F}"/>
              </a:ext>
            </a:extLst>
          </p:cNvPr>
          <p:cNvSpPr txBox="1"/>
          <p:nvPr/>
        </p:nvSpPr>
        <p:spPr>
          <a:xfrm>
            <a:off x="567542" y="545588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ぜひ、お家のパソコンにもインストールして、</a:t>
            </a:r>
            <a:endParaRPr lang="en-US" altLang="ja-JP" sz="2400" dirty="0"/>
          </a:p>
          <a:p>
            <a:r>
              <a:rPr lang="ja-JP" altLang="en-US" sz="2400" dirty="0"/>
              <a:t>今のうちからゲーム制作を体験しましょう！！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391053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682</Words>
  <Application>Microsoft Office PowerPoint</Application>
  <PresentationFormat>ワイド画面</PresentationFormat>
  <Paragraphs>91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29</cp:revision>
  <dcterms:created xsi:type="dcterms:W3CDTF">2024-08-27T02:15:54Z</dcterms:created>
  <dcterms:modified xsi:type="dcterms:W3CDTF">2025-07-01T03:36:04Z</dcterms:modified>
</cp:coreProperties>
</file>