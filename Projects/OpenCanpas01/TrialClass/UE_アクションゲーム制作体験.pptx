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7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9" d="100"/>
          <a:sy n="69" d="100"/>
        </p:scale>
        <p:origin x="22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437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を使ったアクションゲーム制作を体験します。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A5DD1C0-522A-4FDD-8986-876A8A9AC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71445"/>
            <a:ext cx="9900366" cy="43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74819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実際にゲーム会社が使っているゲームエンジン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これまで数々の作品が</a:t>
            </a:r>
            <a:r>
              <a:rPr lang="en-US" altLang="ja-JP" sz="2400" dirty="0"/>
              <a:t>Unreal Engine</a:t>
            </a:r>
            <a:r>
              <a:rPr lang="ja-JP" altLang="en-US" sz="2400" dirty="0"/>
              <a:t>で作られています。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■代表作品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</a:t>
            </a:r>
            <a:r>
              <a:rPr lang="en-US" altLang="ja-JP" sz="2400" dirty="0"/>
              <a:t>Fortnite</a:t>
            </a:r>
            <a:endParaRPr lang="en-US" altLang="ja-JP" sz="2400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FINAL FANTASY Ⅶ REMAKE</a:t>
            </a:r>
          </a:p>
          <a:p>
            <a:r>
              <a:rPr lang="ja-JP" altLang="en-US" sz="2400" dirty="0"/>
              <a:t>・ドラゴンボール</a:t>
            </a:r>
            <a:r>
              <a:rPr lang="en-US" altLang="ja-JP" sz="2400" dirty="0"/>
              <a:t>Z</a:t>
            </a:r>
            <a:r>
              <a:rPr lang="ja-JP" altLang="en-US" sz="2400" dirty="0"/>
              <a:t> </a:t>
            </a:r>
            <a:r>
              <a:rPr lang="en-US" altLang="ja-JP" sz="2400" dirty="0"/>
              <a:t>KAKAROT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ONE PEACE ODYSSEY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LIVE A LIVE</a:t>
            </a:r>
          </a:p>
          <a:p>
            <a:r>
              <a:rPr lang="ja-JP" altLang="en-US" sz="2400" dirty="0"/>
              <a:t>・</a:t>
            </a:r>
            <a:r>
              <a:rPr lang="en-US" altLang="ja-JP" sz="2400" dirty="0"/>
              <a:t>OCTOPATH TRAVELER</a:t>
            </a:r>
          </a:p>
          <a:p>
            <a:endParaRPr lang="en-US" altLang="ja-JP" sz="2400" dirty="0"/>
          </a:p>
          <a:p>
            <a:r>
              <a:rPr lang="ja-JP" altLang="en-US" sz="2400" dirty="0"/>
              <a:t>他にもたくさんあります。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22413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2448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早速</a:t>
            </a:r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を起動したいですが、</a:t>
            </a:r>
            <a:endParaRPr kumimoji="1" lang="en-US" altLang="ja-JP" sz="2400" dirty="0"/>
          </a:p>
          <a:p>
            <a:r>
              <a:rPr lang="ja-JP" altLang="en-US" sz="2400" dirty="0"/>
              <a:t>その前にプログラムを書くための</a:t>
            </a:r>
            <a:r>
              <a:rPr lang="en-US" altLang="ja-JP" sz="2400" b="1" dirty="0">
                <a:solidFill>
                  <a:srgbClr val="FF0000"/>
                </a:solidFill>
              </a:rPr>
              <a:t>Visual Studio</a:t>
            </a:r>
            <a:r>
              <a:rPr lang="ja-JP" altLang="en-US" sz="2400" dirty="0"/>
              <a:t>から起動します。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64F33BE2-9103-4B8F-A85D-19DE4DE89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358914"/>
            <a:ext cx="1247949" cy="1581371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443587E-1AC0-4958-B21B-2740443604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153" y="2358914"/>
            <a:ext cx="1867161" cy="129558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A374897-91F8-4717-8C5E-9E895A677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191" y="2364514"/>
            <a:ext cx="2010056" cy="3277057"/>
          </a:xfrm>
          <a:prstGeom prst="rect">
            <a:avLst/>
          </a:prstGeom>
        </p:spPr>
      </p:pic>
      <p:sp>
        <p:nvSpPr>
          <p:cNvPr id="14" name="矢印: 右 13">
            <a:extLst>
              <a:ext uri="{FF2B5EF4-FFF2-40B4-BE49-F238E27FC236}">
                <a16:creationId xmlns:a16="http://schemas.microsoft.com/office/drawing/2014/main" id="{882D5C5F-0D91-42AE-A65B-563F82AD7AC1}"/>
              </a:ext>
            </a:extLst>
          </p:cNvPr>
          <p:cNvSpPr/>
          <p:nvPr/>
        </p:nvSpPr>
        <p:spPr>
          <a:xfrm>
            <a:off x="2033378" y="2734733"/>
            <a:ext cx="1327890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C0DD3849-656D-4893-9070-B0B9F458848E}"/>
              </a:ext>
            </a:extLst>
          </p:cNvPr>
          <p:cNvSpPr/>
          <p:nvPr/>
        </p:nvSpPr>
        <p:spPr>
          <a:xfrm>
            <a:off x="5676633" y="2744237"/>
            <a:ext cx="1327890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吹き出し: 四角形 15">
            <a:extLst>
              <a:ext uri="{FF2B5EF4-FFF2-40B4-BE49-F238E27FC236}">
                <a16:creationId xmlns:a16="http://schemas.microsoft.com/office/drawing/2014/main" id="{C2C699CD-3EC7-4FA4-B6B8-F809AC0EA476}"/>
              </a:ext>
            </a:extLst>
          </p:cNvPr>
          <p:cNvSpPr/>
          <p:nvPr/>
        </p:nvSpPr>
        <p:spPr>
          <a:xfrm>
            <a:off x="7228981" y="4487334"/>
            <a:ext cx="2389152" cy="431799"/>
          </a:xfrm>
          <a:prstGeom prst="wedgeRectCallout">
            <a:avLst>
              <a:gd name="adj1" fmla="val -30047"/>
              <a:gd name="adj2" fmla="val 101716"/>
            </a:avLst>
          </a:prstGeom>
          <a:ln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chemeClr val="bg1"/>
                </a:solidFill>
              </a:rPr>
              <a:t>ダブルクリック</a:t>
            </a:r>
          </a:p>
        </p:txBody>
      </p:sp>
    </p:spTree>
    <p:extLst>
      <p:ext uri="{BB962C8B-B14F-4D97-AF65-F5344CB8AC3E}">
        <p14:creationId xmlns:p14="http://schemas.microsoft.com/office/powerpoint/2010/main" val="371084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048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00B050"/>
                </a:solidFill>
              </a:rPr>
              <a:t>実行ボタン</a:t>
            </a:r>
            <a:r>
              <a:rPr kumimoji="1" lang="ja-JP" altLang="en-US" sz="2400" dirty="0"/>
              <a:t>を押すと</a:t>
            </a:r>
            <a:r>
              <a:rPr kumimoji="1" lang="en-US" altLang="ja-JP" sz="2400" dirty="0"/>
              <a:t>Unreal Engine</a:t>
            </a:r>
            <a:r>
              <a:rPr kumimoji="1" lang="ja-JP" altLang="en-US" sz="2400" dirty="0"/>
              <a:t>が起動します。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9C05B40-3254-4D9C-B8D4-93580358A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9674474" cy="2508673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2945116F-CBEE-464E-90D7-7B19CB11DB87}"/>
              </a:ext>
            </a:extLst>
          </p:cNvPr>
          <p:cNvSpPr/>
          <p:nvPr/>
        </p:nvSpPr>
        <p:spPr>
          <a:xfrm rot="18234661">
            <a:off x="7495163" y="2569524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078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これが</a:t>
            </a:r>
            <a:r>
              <a:rPr lang="en-US" altLang="ja-JP" sz="2400" dirty="0"/>
              <a:t>Unreal Engine</a:t>
            </a:r>
            <a:r>
              <a:rPr lang="ja-JP" altLang="en-US" sz="2400" dirty="0"/>
              <a:t>の画面です！！</a:t>
            </a:r>
            <a:endParaRPr lang="en-US" altLang="ja-JP" sz="2400" dirty="0"/>
          </a:p>
          <a:p>
            <a:r>
              <a:rPr lang="ja-JP" altLang="en-US" sz="2400" dirty="0"/>
              <a:t>真ん中の大きな画面がゲームのステージになります。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5DE3617-D32F-4115-B10A-3F2FE31152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801828" cy="4258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93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ステージに</a:t>
            </a:r>
            <a:r>
              <a:rPr lang="ja-JP" altLang="en-US" sz="2400" b="1" dirty="0">
                <a:solidFill>
                  <a:srgbClr val="FF9900"/>
                </a:solidFill>
              </a:rPr>
              <a:t>コイン</a:t>
            </a:r>
            <a:r>
              <a:rPr lang="ja-JP" altLang="en-US" sz="2400" dirty="0"/>
              <a:t>を置いてみましょう。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B18F0A0-34F0-4CAE-B0C7-29B29C80A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856207" cy="4548252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45DB3A28-B094-43B4-AE05-A9F5EAE4F66D}"/>
              </a:ext>
            </a:extLst>
          </p:cNvPr>
          <p:cNvSpPr/>
          <p:nvPr/>
        </p:nvSpPr>
        <p:spPr>
          <a:xfrm rot="17961142">
            <a:off x="1663903" y="3633340"/>
            <a:ext cx="2360426" cy="42290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9E73DEE-46FF-424B-89A4-8473DFABC8ED}"/>
              </a:ext>
            </a:extLst>
          </p:cNvPr>
          <p:cNvSpPr txBox="1"/>
          <p:nvPr/>
        </p:nvSpPr>
        <p:spPr>
          <a:xfrm>
            <a:off x="2995645" y="3630255"/>
            <a:ext cx="5208477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BP_ItemCoin</a:t>
            </a:r>
            <a:r>
              <a:rPr lang="ja-JP" altLang="en-US" sz="2400" dirty="0"/>
              <a:t>を</a:t>
            </a:r>
            <a:r>
              <a:rPr lang="ja-JP" altLang="en-US" sz="2400" b="1" dirty="0">
                <a:solidFill>
                  <a:srgbClr val="FF0000"/>
                </a:solidFill>
              </a:rPr>
              <a:t>ドラッグ＆ドロップ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F6934B8-5230-46E7-8E07-2DC09AC7D6E8}"/>
              </a:ext>
            </a:extLst>
          </p:cNvPr>
          <p:cNvSpPr txBox="1"/>
          <p:nvPr/>
        </p:nvSpPr>
        <p:spPr>
          <a:xfrm>
            <a:off x="5676633" y="4427054"/>
            <a:ext cx="5724644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操作方法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マウスホイール回転：前進、後退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マウスホイールドラッグアンドドロップ</a:t>
            </a:r>
            <a:endParaRPr lang="en-US" altLang="ja-JP" sz="2400" dirty="0"/>
          </a:p>
          <a:p>
            <a:r>
              <a:rPr lang="ja-JP" altLang="en-US" sz="2400" dirty="0"/>
              <a:t>上下左右移動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82325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/>
              <a:t>実行ボタン</a:t>
            </a:r>
            <a:r>
              <a:rPr lang="ja-JP" altLang="en-US" sz="2400" dirty="0"/>
              <a:t>を押すとゲームが始まります。</a:t>
            </a:r>
            <a:endParaRPr lang="en-US" altLang="ja-JP" sz="2400" dirty="0"/>
          </a:p>
          <a:p>
            <a:r>
              <a:rPr lang="ja-JP" altLang="en-US" sz="2400" dirty="0"/>
              <a:t>さきほど置いた</a:t>
            </a:r>
            <a:r>
              <a:rPr lang="ja-JP" altLang="en-US" sz="2400" b="1" dirty="0">
                <a:solidFill>
                  <a:srgbClr val="FF9900"/>
                </a:solidFill>
              </a:rPr>
              <a:t>コイン</a:t>
            </a:r>
            <a:r>
              <a:rPr lang="ja-JP" altLang="en-US" sz="2400" dirty="0"/>
              <a:t>を触ってみましょう。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A866068-CB18-4145-BEBA-A61ED3505C5C}"/>
              </a:ext>
            </a:extLst>
          </p:cNvPr>
          <p:cNvSpPr txBox="1"/>
          <p:nvPr/>
        </p:nvSpPr>
        <p:spPr>
          <a:xfrm>
            <a:off x="567541" y="553504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触っても何も起きないですね。。。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146D193-5E51-4010-A423-F132E21D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3320502" cy="297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4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ステージのものに触りたい場合は、</a:t>
            </a:r>
            <a:r>
              <a:rPr lang="ja-JP" altLang="en-US" sz="2400" b="1" dirty="0">
                <a:solidFill>
                  <a:srgbClr val="FF0000"/>
                </a:solidFill>
              </a:rPr>
              <a:t>当たり判定</a:t>
            </a:r>
            <a:r>
              <a:rPr lang="ja-JP" altLang="en-US" sz="2400" dirty="0"/>
              <a:t>のプログラムを作ります。</a:t>
            </a:r>
            <a:endParaRPr lang="en-US" altLang="ja-JP" sz="2400" dirty="0"/>
          </a:p>
          <a:p>
            <a:r>
              <a:rPr lang="en-US" altLang="ja-JP" sz="2400" b="1" dirty="0" err="1">
                <a:solidFill>
                  <a:srgbClr val="0070C0"/>
                </a:solidFill>
              </a:rPr>
              <a:t>BP_ItemCoin</a:t>
            </a:r>
            <a:r>
              <a:rPr lang="ja-JP" altLang="en-US" sz="2400" dirty="0"/>
              <a:t>をダブルクリックしましょう。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D56BB74-ED49-4F07-84E8-2BEF90E5C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87744" cy="417892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7F5FA0-D20C-493D-9581-973743D1BA76}"/>
              </a:ext>
            </a:extLst>
          </p:cNvPr>
          <p:cNvSpPr txBox="1"/>
          <p:nvPr/>
        </p:nvSpPr>
        <p:spPr>
          <a:xfrm>
            <a:off x="5676633" y="6005981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ゲームは</a:t>
            </a:r>
            <a:r>
              <a:rPr lang="ja-JP" altLang="en-US" sz="2400" b="1" dirty="0">
                <a:solidFill>
                  <a:srgbClr val="FF0000"/>
                </a:solidFill>
              </a:rPr>
              <a:t>停止</a:t>
            </a:r>
            <a:r>
              <a:rPr lang="ja-JP" altLang="en-US" sz="2400" dirty="0"/>
              <a:t>しましょう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14600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137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開いたものは</a:t>
            </a:r>
            <a:r>
              <a:rPr lang="ja-JP" altLang="en-US" sz="2400" b="1" dirty="0">
                <a:solidFill>
                  <a:srgbClr val="0070C0"/>
                </a:solidFill>
              </a:rPr>
              <a:t>ブループリント</a:t>
            </a:r>
            <a:r>
              <a:rPr lang="ja-JP" altLang="en-US" sz="2400" dirty="0"/>
              <a:t>と呼ばれる</a:t>
            </a:r>
            <a:r>
              <a:rPr lang="ja-JP" altLang="en-US" sz="2400" b="1" dirty="0">
                <a:solidFill>
                  <a:srgbClr val="0070C0"/>
                </a:solidFill>
              </a:rPr>
              <a:t>コインの設計書</a:t>
            </a:r>
            <a:r>
              <a:rPr lang="ja-JP" altLang="en-US" sz="2400" dirty="0"/>
              <a:t>になります。</a:t>
            </a:r>
            <a:endParaRPr lang="en-US" altLang="ja-JP" sz="2400" dirty="0"/>
          </a:p>
          <a:p>
            <a:r>
              <a:rPr lang="ja-JP" altLang="en-US" sz="2400" dirty="0"/>
              <a:t>ブループリントでは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プログラムを書いたり、細かい設定ができたりします。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en-US" altLang="ja-JP" sz="2400" dirty="0"/>
              <a:t>Unreal Engine</a:t>
            </a:r>
            <a:r>
              <a:rPr lang="ja-JP" altLang="en-US" sz="2400" dirty="0"/>
              <a:t>での開発ではとても大事な要素で、このあともたくさん使います。</a:t>
            </a:r>
            <a:endParaRPr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0DDFA51-5B28-4286-8E37-E053F7F9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7382658" cy="399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66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イベントグラフ</a:t>
            </a:r>
            <a:r>
              <a:rPr lang="ja-JP" altLang="en-US" sz="2400" dirty="0"/>
              <a:t>で</a:t>
            </a:r>
            <a:r>
              <a:rPr lang="ja-JP" altLang="en-US" sz="2400" b="1" dirty="0">
                <a:solidFill>
                  <a:srgbClr val="FF0000"/>
                </a:solidFill>
              </a:rPr>
              <a:t>ブループリントのプログラムを書く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lang="ja-JP" altLang="en-US" sz="2400" dirty="0"/>
              <a:t>ここに当たり判定のプログラムを書いていきます。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3477FE4-E3BE-40C8-93E0-30DD901E2BE8}"/>
              </a:ext>
            </a:extLst>
          </p:cNvPr>
          <p:cNvSpPr txBox="1"/>
          <p:nvPr/>
        </p:nvSpPr>
        <p:spPr>
          <a:xfrm>
            <a:off x="67777" y="4810575"/>
            <a:ext cx="4905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①右クリックして</a:t>
            </a:r>
            <a:r>
              <a:rPr lang="en-US" altLang="ja-JP" dirty="0"/>
              <a:t>Begin Overlap</a:t>
            </a:r>
            <a:r>
              <a:rPr lang="ja-JP" altLang="en-US" dirty="0"/>
              <a:t>ノードを追加</a:t>
            </a:r>
            <a:endParaRPr lang="en-US" altLang="ja-JP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00D2806-7E71-4AF7-A5D2-758D8D152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287" y="2187126"/>
            <a:ext cx="6800237" cy="3265407"/>
          </a:xfrm>
          <a:prstGeom prst="rect">
            <a:avLst/>
          </a:prstGeom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BD382DDB-B67D-46A0-8595-C98CA2A2C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187126"/>
            <a:ext cx="4112288" cy="242830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FC8678-FBC8-414F-BD3A-85153F24917B}"/>
              </a:ext>
            </a:extLst>
          </p:cNvPr>
          <p:cNvSpPr txBox="1"/>
          <p:nvPr/>
        </p:nvSpPr>
        <p:spPr>
          <a:xfrm>
            <a:off x="5857331" y="5641571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②ドラッグドロップで上のように線をつなげる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66724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610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lang="ja-JP" altLang="en-US" sz="2400" dirty="0"/>
              <a:t>に画面を切り替えて、</a:t>
            </a:r>
            <a:r>
              <a:rPr lang="en-US" altLang="ja-JP" sz="2400" b="1" dirty="0">
                <a:solidFill>
                  <a:srgbClr val="FF0000"/>
                </a:solidFill>
              </a:rPr>
              <a:t>ItemBase.cpp</a:t>
            </a:r>
            <a:r>
              <a:rPr lang="ja-JP" altLang="en-US" sz="2400" dirty="0"/>
              <a:t>を開きましょう。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142FDDD-3951-42A0-8CF9-E0741E51C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2676899" cy="4324954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555A8DCF-4A39-4E54-83D1-C79499F7403A}"/>
              </a:ext>
            </a:extLst>
          </p:cNvPr>
          <p:cNvSpPr/>
          <p:nvPr/>
        </p:nvSpPr>
        <p:spPr>
          <a:xfrm rot="18234661">
            <a:off x="1402993" y="5768927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5135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Unreal Engine</a:t>
            </a:r>
            <a:r>
              <a:rPr lang="ja-JP" altLang="en-US" sz="2400" dirty="0"/>
              <a:t>では</a:t>
            </a:r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dirty="0"/>
              <a:t>という</a:t>
            </a:r>
            <a:r>
              <a:rPr lang="ja-JP" altLang="en-US" sz="2400" b="1" dirty="0">
                <a:solidFill>
                  <a:srgbClr val="FF0000"/>
                </a:solidFill>
              </a:rPr>
              <a:t>プログラム言語</a:t>
            </a:r>
            <a:r>
              <a:rPr lang="ja-JP" altLang="en-US" sz="2400" dirty="0"/>
              <a:t>も使います。</a:t>
            </a:r>
            <a:endParaRPr lang="en-US" altLang="ja-JP" sz="2400" dirty="0"/>
          </a:p>
          <a:p>
            <a:r>
              <a:rPr lang="ja-JP" altLang="en-US" sz="2400" dirty="0"/>
              <a:t>こちらで、</a:t>
            </a:r>
            <a:r>
              <a:rPr lang="ja-JP" altLang="en-US" sz="2400" b="1" dirty="0">
                <a:solidFill>
                  <a:srgbClr val="FF0000"/>
                </a:solidFill>
              </a:rPr>
              <a:t>コインと重なった時のプログラム</a:t>
            </a:r>
            <a:r>
              <a:rPr lang="ja-JP" altLang="en-US" sz="2400" dirty="0"/>
              <a:t>を書いていきます。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EAFAF2-BDAD-46C4-BE93-C91CB15D7D27}"/>
              </a:ext>
            </a:extLst>
          </p:cNvPr>
          <p:cNvSpPr txBox="1"/>
          <p:nvPr/>
        </p:nvSpPr>
        <p:spPr>
          <a:xfrm>
            <a:off x="567542" y="5788429"/>
            <a:ext cx="5198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書いたら</a:t>
            </a:r>
            <a:r>
              <a:rPr lang="en-US" altLang="ja-JP" sz="2400" b="1" dirty="0">
                <a:solidFill>
                  <a:srgbClr val="FF0000"/>
                </a:solidFill>
              </a:rPr>
              <a:t>Ctrl</a:t>
            </a:r>
            <a:r>
              <a:rPr lang="ja-JP" altLang="en-US" sz="2400" b="1" dirty="0">
                <a:solidFill>
                  <a:srgbClr val="FF0000"/>
                </a:solidFill>
              </a:rPr>
              <a:t>＋</a:t>
            </a:r>
            <a:r>
              <a:rPr lang="en-US" altLang="ja-JP" sz="2400" b="1" dirty="0">
                <a:solidFill>
                  <a:srgbClr val="FF0000"/>
                </a:solidFill>
              </a:rPr>
              <a:t>S</a:t>
            </a:r>
            <a:r>
              <a:rPr lang="ja-JP" altLang="en-US" sz="2400" b="1" dirty="0">
                <a:solidFill>
                  <a:srgbClr val="FF0000"/>
                </a:solidFill>
              </a:rPr>
              <a:t>で保存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99FAD0D-C5D3-4A77-AEEE-0287E9C58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72" y="2041208"/>
            <a:ext cx="8889725" cy="375343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33D4275-CBF3-416A-90D5-088B1FFF34C8}"/>
              </a:ext>
            </a:extLst>
          </p:cNvPr>
          <p:cNvSpPr/>
          <p:nvPr/>
        </p:nvSpPr>
        <p:spPr>
          <a:xfrm>
            <a:off x="2269367" y="4673601"/>
            <a:ext cx="2853267" cy="584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90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C++</a:t>
            </a:r>
            <a:r>
              <a:rPr lang="ja-JP" altLang="en-US" sz="2400" b="1" dirty="0">
                <a:solidFill>
                  <a:srgbClr val="FF0000"/>
                </a:solidFill>
              </a:rPr>
              <a:t>を書いたら</a:t>
            </a:r>
            <a:r>
              <a:rPr lang="en-US" altLang="ja-JP" sz="2400" b="1" dirty="0">
                <a:solidFill>
                  <a:srgbClr val="FF0000"/>
                </a:solidFill>
              </a:rPr>
              <a:t>Unreal Engine</a:t>
            </a:r>
            <a:r>
              <a:rPr lang="ja-JP" altLang="en-US" sz="2400" b="1" dirty="0">
                <a:solidFill>
                  <a:srgbClr val="FF0000"/>
                </a:solidFill>
              </a:rPr>
              <a:t>側に教えなければいけません。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右下に小さな</a:t>
            </a:r>
            <a:r>
              <a:rPr lang="ja-JP" altLang="en-US" sz="2400" b="1" dirty="0">
                <a:solidFill>
                  <a:srgbClr val="FF0000"/>
                </a:solidFill>
              </a:rPr>
              <a:t>コンパイルボタン</a:t>
            </a:r>
            <a:r>
              <a:rPr lang="ja-JP" altLang="en-US" sz="2400" dirty="0"/>
              <a:t>があるので、押してみましょう。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EAFAF2-BDAD-46C4-BE93-C91CB15D7D27}"/>
              </a:ext>
            </a:extLst>
          </p:cNvPr>
          <p:cNvSpPr txBox="1"/>
          <p:nvPr/>
        </p:nvSpPr>
        <p:spPr>
          <a:xfrm>
            <a:off x="567542" y="5788429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</a:t>
            </a:r>
            <a:r>
              <a:rPr lang="ja-JP" altLang="en-US" sz="2400" b="1" dirty="0">
                <a:solidFill>
                  <a:srgbClr val="FF9900"/>
                </a:solidFill>
              </a:rPr>
              <a:t>コイン</a:t>
            </a:r>
            <a:r>
              <a:rPr lang="ja-JP" altLang="en-US" sz="2400" dirty="0"/>
              <a:t>がとれるか確認しましょう！！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81A2539-54AE-4AD7-BDA7-8E88FD5A9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963876" cy="1241874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11E9EE3-3A66-46DD-9D3B-1C9FD3D3AA66}"/>
              </a:ext>
            </a:extLst>
          </p:cNvPr>
          <p:cNvSpPr/>
          <p:nvPr/>
        </p:nvSpPr>
        <p:spPr>
          <a:xfrm rot="18234661">
            <a:off x="4409161" y="3408691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164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ステージを進めていくと、</a:t>
            </a:r>
            <a:r>
              <a:rPr lang="ja-JP" altLang="en-US" sz="2400" b="1" dirty="0">
                <a:solidFill>
                  <a:srgbClr val="FF0000"/>
                </a:solidFill>
              </a:rPr>
              <a:t>敵</a:t>
            </a:r>
            <a:r>
              <a:rPr lang="ja-JP" altLang="en-US" sz="2400" dirty="0"/>
              <a:t>が出現します。</a:t>
            </a:r>
            <a:endParaRPr lang="en-US" altLang="ja-JP" sz="2400" dirty="0"/>
          </a:p>
          <a:p>
            <a:r>
              <a:rPr lang="ja-JP" altLang="en-US" sz="2400" dirty="0"/>
              <a:t>敵をやっつけるために、</a:t>
            </a:r>
            <a:r>
              <a:rPr lang="ja-JP" altLang="en-US" sz="2400" b="1" dirty="0">
                <a:solidFill>
                  <a:srgbClr val="FF0000"/>
                </a:solidFill>
              </a:rPr>
              <a:t>攻撃</a:t>
            </a:r>
            <a:r>
              <a:rPr lang="ja-JP" altLang="en-US" sz="2400" dirty="0"/>
              <a:t>をプログラムで実装していきます。</a:t>
            </a:r>
            <a:endParaRPr lang="en-US" altLang="ja-JP" sz="2400" b="1" dirty="0">
              <a:solidFill>
                <a:srgbClr val="7030A0"/>
              </a:solidFill>
            </a:endParaRPr>
          </a:p>
          <a:p>
            <a:r>
              <a:rPr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Magician.cpp</a:t>
            </a:r>
            <a:r>
              <a:rPr lang="ja-JP" altLang="en-US" sz="2400" dirty="0"/>
              <a:t>を開きましょう。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E6DF1A-B752-46FD-AC35-28E8CDB56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3562786" cy="3886675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6272AFA5-5138-41CE-949B-7CB7F0726AF0}"/>
              </a:ext>
            </a:extLst>
          </p:cNvPr>
          <p:cNvSpPr/>
          <p:nvPr/>
        </p:nvSpPr>
        <p:spPr>
          <a:xfrm rot="18234661">
            <a:off x="1801427" y="5948691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09E0E40-E0D0-44E4-B9C4-805B7A18A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3642" y="2556458"/>
            <a:ext cx="6716062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48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647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C++</a:t>
            </a:r>
            <a:r>
              <a:rPr lang="ja-JP" altLang="en-US" sz="2400" dirty="0"/>
              <a:t>で以下のように書いてみましょう。</a:t>
            </a:r>
            <a:endParaRPr lang="en-US" altLang="ja-JP" sz="24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F91C99E-110B-477C-9BB7-A07A1B418655}"/>
              </a:ext>
            </a:extLst>
          </p:cNvPr>
          <p:cNvSpPr txBox="1"/>
          <p:nvPr/>
        </p:nvSpPr>
        <p:spPr>
          <a:xfrm>
            <a:off x="567542" y="5771495"/>
            <a:ext cx="8319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書き終わったら </a:t>
            </a:r>
            <a:r>
              <a:rPr lang="ja-JP" altLang="en-US" sz="2400" b="1" dirty="0">
                <a:solidFill>
                  <a:srgbClr val="FF0000"/>
                </a:solidFill>
              </a:rPr>
              <a:t>保存 → コンパイルボタン → 実行</a:t>
            </a:r>
            <a:r>
              <a:rPr lang="ja-JP" altLang="en-US" sz="2400" dirty="0"/>
              <a:t>をして、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0070C0"/>
                </a:solidFill>
              </a:rPr>
              <a:t>X</a:t>
            </a:r>
            <a:r>
              <a:rPr lang="ja-JP" altLang="en-US" sz="2400" b="1" dirty="0">
                <a:solidFill>
                  <a:srgbClr val="0070C0"/>
                </a:solidFill>
              </a:rPr>
              <a:t>ボタン</a:t>
            </a:r>
            <a:r>
              <a:rPr lang="ja-JP" altLang="en-US" sz="2400" dirty="0"/>
              <a:t>を押してみましょう。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582520D-D933-4606-99AA-B1D8DC76F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29028"/>
            <a:ext cx="10145541" cy="3991532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4C30B0-9FBE-4500-A09E-51FDC19A0C8C}"/>
              </a:ext>
            </a:extLst>
          </p:cNvPr>
          <p:cNvSpPr/>
          <p:nvPr/>
        </p:nvSpPr>
        <p:spPr>
          <a:xfrm>
            <a:off x="2819399" y="4334933"/>
            <a:ext cx="7984067" cy="5757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9895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アクションゲームで大事なことは、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敵をやっつけて気持ち良いと感じるかどうか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57630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今のままだと</a:t>
            </a:r>
            <a:r>
              <a:rPr lang="ja-JP" altLang="en-US" sz="2400" b="1" dirty="0">
                <a:solidFill>
                  <a:srgbClr val="0070C0"/>
                </a:solidFill>
              </a:rPr>
              <a:t>あまり気持ちよくない</a:t>
            </a:r>
            <a:r>
              <a:rPr lang="ja-JP" altLang="en-US" sz="2400" dirty="0"/>
              <a:t>ですよね。。</a:t>
            </a:r>
            <a:endParaRPr lang="en-US" altLang="ja-JP" sz="2400" dirty="0"/>
          </a:p>
          <a:p>
            <a:r>
              <a:rPr lang="ja-JP" altLang="en-US" sz="2400" dirty="0"/>
              <a:t>今回は、敵をやっつけて嬉しくなるように、</a:t>
            </a:r>
            <a:r>
              <a:rPr lang="ja-JP" altLang="en-US" sz="2400" b="1" dirty="0">
                <a:solidFill>
                  <a:srgbClr val="FF0000"/>
                </a:solidFill>
              </a:rPr>
              <a:t>演出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AE54078-F5FB-43FF-BACE-F51D4CECA0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2187126"/>
            <a:ext cx="6204100" cy="310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386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弾丸が敵に当たったら</a:t>
            </a:r>
            <a:r>
              <a:rPr lang="ja-JP" altLang="en-US" sz="2400" b="1" dirty="0">
                <a:solidFill>
                  <a:srgbClr val="FF0000"/>
                </a:solidFill>
              </a:rPr>
              <a:t>ヒットエフェクト</a:t>
            </a:r>
            <a:r>
              <a:rPr lang="ja-JP" altLang="en-US" sz="2400" dirty="0"/>
              <a:t>が出るようにします。</a:t>
            </a:r>
            <a:endParaRPr lang="en-US" altLang="ja-JP" sz="2400" dirty="0"/>
          </a:p>
          <a:p>
            <a:r>
              <a:rPr lang="ja-JP" altLang="en-US" sz="2400" dirty="0"/>
              <a:t>エフェクトとは</a:t>
            </a:r>
            <a:r>
              <a:rPr lang="ja-JP" altLang="en-US" sz="2400" b="1" dirty="0">
                <a:solidFill>
                  <a:srgbClr val="FF0000"/>
                </a:solidFill>
              </a:rPr>
              <a:t>ゲームの飾りつけをするアニメーション</a:t>
            </a:r>
            <a:r>
              <a:rPr lang="ja-JP" altLang="en-US" sz="2400" dirty="0"/>
              <a:t>のことです。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炎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70C0"/>
                </a:solidFill>
              </a:rPr>
              <a:t>電撃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FFC000"/>
                </a:solidFill>
              </a:rPr>
              <a:t>爆発</a:t>
            </a:r>
            <a:r>
              <a:rPr lang="ja-JP" altLang="en-US" sz="2400" dirty="0"/>
              <a:t>、</a:t>
            </a:r>
            <a:r>
              <a:rPr lang="ja-JP" altLang="en-US" sz="2400" b="1" dirty="0">
                <a:solidFill>
                  <a:srgbClr val="00B050"/>
                </a:solidFill>
              </a:rPr>
              <a:t>衝撃波</a:t>
            </a:r>
            <a:r>
              <a:rPr lang="ja-JP" altLang="en-US" sz="2400" dirty="0"/>
              <a:t>など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6227233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実行して弾丸を敵に当てましょう。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6306C5-22A4-45C2-8435-BDF184C1D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1535" y="2556458"/>
            <a:ext cx="3899790" cy="413540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AFAE87B-7EE8-4250-A71A-8CE1597C9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2556458"/>
            <a:ext cx="4267796" cy="2953162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242E171-8846-4777-8B83-DB37EF3B09E6}"/>
              </a:ext>
            </a:extLst>
          </p:cNvPr>
          <p:cNvSpPr/>
          <p:nvPr/>
        </p:nvSpPr>
        <p:spPr>
          <a:xfrm>
            <a:off x="4899805" y="3705025"/>
            <a:ext cx="1687262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6B23E0C-430A-4EBB-801E-0BA43010D31B}"/>
              </a:ext>
            </a:extLst>
          </p:cNvPr>
          <p:cNvSpPr/>
          <p:nvPr/>
        </p:nvSpPr>
        <p:spPr>
          <a:xfrm>
            <a:off x="6651536" y="5985933"/>
            <a:ext cx="3899790" cy="482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1A9F67-1248-4CA0-96C2-49D12C70A21B}"/>
              </a:ext>
            </a:extLst>
          </p:cNvPr>
          <p:cNvSpPr txBox="1"/>
          <p:nvPr/>
        </p:nvSpPr>
        <p:spPr>
          <a:xfrm>
            <a:off x="3011076" y="4778295"/>
            <a:ext cx="290015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</a:rPr>
              <a:t>BP_MagicianBullet</a:t>
            </a:r>
            <a:r>
              <a:rPr lang="ja-JP" altLang="en-US" sz="1600" b="1" dirty="0">
                <a:solidFill>
                  <a:srgbClr val="FF0000"/>
                </a:solidFill>
              </a:rPr>
              <a:t>を開いて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6893B75-38A5-46A2-AE59-4FCE920452EA}"/>
              </a:ext>
            </a:extLst>
          </p:cNvPr>
          <p:cNvSpPr txBox="1"/>
          <p:nvPr/>
        </p:nvSpPr>
        <p:spPr>
          <a:xfrm>
            <a:off x="6651534" y="5593328"/>
            <a:ext cx="3156633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M Hit Effect</a:t>
            </a:r>
            <a:r>
              <a:rPr lang="ja-JP" altLang="en-US" sz="1600" b="1" dirty="0">
                <a:solidFill>
                  <a:srgbClr val="FF0000"/>
                </a:solidFill>
              </a:rPr>
              <a:t>を「</a:t>
            </a:r>
            <a:r>
              <a:rPr lang="en-US" altLang="ja-JP" sz="1600" b="1" dirty="0">
                <a:solidFill>
                  <a:srgbClr val="FF0000"/>
                </a:solidFill>
              </a:rPr>
              <a:t>Hit00</a:t>
            </a:r>
            <a:r>
              <a:rPr lang="ja-JP" altLang="en-US" sz="1600" b="1" dirty="0">
                <a:solidFill>
                  <a:srgbClr val="FF0000"/>
                </a:solidFill>
              </a:rPr>
              <a:t>」に設定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98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ヒットストップ</a:t>
            </a:r>
            <a:r>
              <a:rPr lang="ja-JP" altLang="en-US" sz="2400" dirty="0"/>
              <a:t>を設定して、</a:t>
            </a:r>
            <a:r>
              <a:rPr lang="ja-JP" altLang="en-US" sz="2400" b="1" dirty="0">
                <a:solidFill>
                  <a:srgbClr val="FF0000"/>
                </a:solidFill>
              </a:rPr>
              <a:t>当たった感を強めます。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スマブラにも使われている、有名な演出です。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57630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実行して弾丸を敵に当てましょう。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E193B84-74E3-4EF1-8465-B0276F546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874" y="2271462"/>
            <a:ext cx="4553585" cy="2343477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F87F0251-0093-4B90-BE2A-327BEA5F621F}"/>
              </a:ext>
            </a:extLst>
          </p:cNvPr>
          <p:cNvSpPr/>
          <p:nvPr/>
        </p:nvSpPr>
        <p:spPr>
          <a:xfrm>
            <a:off x="6179140" y="3380293"/>
            <a:ext cx="776827" cy="524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5F2B2F6-BE52-4257-A7E6-F948EB626E67}"/>
              </a:ext>
            </a:extLst>
          </p:cNvPr>
          <p:cNvSpPr txBox="1"/>
          <p:nvPr/>
        </p:nvSpPr>
        <p:spPr>
          <a:xfrm>
            <a:off x="7174184" y="3735950"/>
            <a:ext cx="243207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M Hit Stop Time</a:t>
            </a:r>
            <a:r>
              <a:rPr lang="ja-JP" altLang="en-US" sz="1600" b="1" dirty="0">
                <a:solidFill>
                  <a:srgbClr val="FF0000"/>
                </a:solidFill>
              </a:rPr>
              <a:t>を設定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DEE2F801-B6E9-4709-8B5B-F027E1811B6F}"/>
              </a:ext>
            </a:extLst>
          </p:cNvPr>
          <p:cNvSpPr/>
          <p:nvPr/>
        </p:nvSpPr>
        <p:spPr>
          <a:xfrm>
            <a:off x="7174184" y="4132339"/>
            <a:ext cx="3899790" cy="2618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78DC1DF-E98C-4CC1-8D80-49FE89761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1" y="2187126"/>
            <a:ext cx="5144218" cy="34009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C255C99-D8B2-447B-9EAF-617CFE6C3010}"/>
              </a:ext>
            </a:extLst>
          </p:cNvPr>
          <p:cNvSpPr txBox="1"/>
          <p:nvPr/>
        </p:nvSpPr>
        <p:spPr>
          <a:xfrm>
            <a:off x="4132162" y="4472021"/>
            <a:ext cx="263084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</a:rPr>
              <a:t>BP_EnemyMush</a:t>
            </a:r>
            <a:r>
              <a:rPr lang="ja-JP" altLang="en-US" sz="1600" b="1" dirty="0">
                <a:solidFill>
                  <a:srgbClr val="FF0000"/>
                </a:solidFill>
              </a:rPr>
              <a:t>を開いて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522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敵がやられたら</a:t>
            </a:r>
            <a:r>
              <a:rPr lang="ja-JP" altLang="en-US" sz="2400" b="1" dirty="0">
                <a:solidFill>
                  <a:srgbClr val="FF0000"/>
                </a:solidFill>
              </a:rPr>
              <a:t>吹っ飛ぶ</a:t>
            </a:r>
            <a:r>
              <a:rPr lang="ja-JP" altLang="en-US" sz="2400" dirty="0"/>
              <a:t>ようにしましょう。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2" y="5535049"/>
            <a:ext cx="97658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書いたら動作確認をしましょう。</a:t>
            </a:r>
            <a:endParaRPr lang="en-US" altLang="ja-JP" sz="2400" dirty="0"/>
          </a:p>
          <a:p>
            <a:r>
              <a:rPr lang="en-US" altLang="ja-JP" sz="2400" dirty="0"/>
              <a:t>C++</a:t>
            </a:r>
            <a:r>
              <a:rPr lang="ja-JP" altLang="en-US" sz="2400" dirty="0"/>
              <a:t>を書いたので、</a:t>
            </a:r>
            <a:r>
              <a:rPr lang="ja-JP" altLang="en-US" sz="2400" b="1" dirty="0">
                <a:solidFill>
                  <a:srgbClr val="FF0000"/>
                </a:solidFill>
              </a:rPr>
              <a:t>保存、コンパイルを忘れないように</a:t>
            </a:r>
            <a:r>
              <a:rPr lang="ja-JP" altLang="en-US" sz="2400" dirty="0"/>
              <a:t>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6C5D076-24F0-45A8-8C2F-9AC36311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48009"/>
            <a:ext cx="7907591" cy="3717125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853624-D3FF-4CBF-981D-F1F0115CA137}"/>
              </a:ext>
            </a:extLst>
          </p:cNvPr>
          <p:cNvSpPr/>
          <p:nvPr/>
        </p:nvSpPr>
        <p:spPr>
          <a:xfrm>
            <a:off x="1524000" y="4360333"/>
            <a:ext cx="2675468" cy="5503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7FA4E2D-F36A-43D0-840B-E22EA7A1261E}"/>
              </a:ext>
            </a:extLst>
          </p:cNvPr>
          <p:cNvSpPr txBox="1"/>
          <p:nvPr/>
        </p:nvSpPr>
        <p:spPr>
          <a:xfrm>
            <a:off x="5898787" y="1748009"/>
            <a:ext cx="2576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EnemyBase.cpp</a:t>
            </a:r>
          </a:p>
        </p:txBody>
      </p:sp>
    </p:spTree>
    <p:extLst>
      <p:ext uri="{BB962C8B-B14F-4D97-AF65-F5344CB8AC3E}">
        <p14:creationId xmlns:p14="http://schemas.microsoft.com/office/powerpoint/2010/main" val="805065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敵が消えるときにもエフェクトを出しましょう。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F53DD6C-E45D-4399-9D63-AE50E346FE78}"/>
              </a:ext>
            </a:extLst>
          </p:cNvPr>
          <p:cNvSpPr txBox="1"/>
          <p:nvPr/>
        </p:nvSpPr>
        <p:spPr>
          <a:xfrm>
            <a:off x="567541" y="5763029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最初より、敵をやっつけることが楽しくなっているはずです！！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FF55E57-2E7A-4FD5-9497-B27586702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035996"/>
            <a:ext cx="5496692" cy="326753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9E73C815-7129-444C-814B-F92BFD1D9D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0874" y="2035996"/>
            <a:ext cx="4553585" cy="234347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1596496-C899-4A3D-8D4E-22CBB49B4613}"/>
              </a:ext>
            </a:extLst>
          </p:cNvPr>
          <p:cNvSpPr txBox="1"/>
          <p:nvPr/>
        </p:nvSpPr>
        <p:spPr>
          <a:xfrm>
            <a:off x="4221809" y="4379473"/>
            <a:ext cx="2630848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 err="1">
                <a:solidFill>
                  <a:srgbClr val="FF0000"/>
                </a:solidFill>
              </a:rPr>
              <a:t>BP_EnemyMush</a:t>
            </a:r>
            <a:r>
              <a:rPr lang="ja-JP" altLang="en-US" sz="1600" b="1" dirty="0">
                <a:solidFill>
                  <a:srgbClr val="FF0000"/>
                </a:solidFill>
              </a:rPr>
              <a:t>を開いて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2E0DA4-D512-4FEB-A8E6-325F8E7490EC}"/>
              </a:ext>
            </a:extLst>
          </p:cNvPr>
          <p:cNvSpPr txBox="1"/>
          <p:nvPr/>
        </p:nvSpPr>
        <p:spPr>
          <a:xfrm>
            <a:off x="7070874" y="2723096"/>
            <a:ext cx="2239716" cy="3385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1600" b="1" dirty="0">
                <a:solidFill>
                  <a:srgbClr val="FF0000"/>
                </a:solidFill>
              </a:rPr>
              <a:t>M Dead Effect</a:t>
            </a:r>
            <a:r>
              <a:rPr lang="ja-JP" altLang="en-US" sz="1600" b="1" dirty="0">
                <a:solidFill>
                  <a:srgbClr val="FF0000"/>
                </a:solidFill>
              </a:rPr>
              <a:t>を設定</a:t>
            </a:r>
            <a:endParaRPr lang="en-US" altLang="ja-JP" sz="1600" b="1" dirty="0">
              <a:solidFill>
                <a:srgbClr val="FF0000"/>
              </a:solidFill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31DFA8E7-A630-4486-B6C0-D7420AD62D6C}"/>
              </a:ext>
            </a:extLst>
          </p:cNvPr>
          <p:cNvSpPr/>
          <p:nvPr/>
        </p:nvSpPr>
        <p:spPr>
          <a:xfrm>
            <a:off x="8839200" y="3061650"/>
            <a:ext cx="2675468" cy="5959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807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ステージを進めて遊んでみましょう！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もっとこうしたら面白い！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もっとこんなことがしたい！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など意見があればどんどん言ってください！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来年のオープンキャンパスに採用されるかも</a:t>
            </a:r>
            <a:endParaRPr lang="en-US" altLang="ja-JP" sz="24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0441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アクションゲーム制作体験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814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今日体験した</a:t>
            </a:r>
            <a:r>
              <a:rPr lang="en-US" altLang="ja-JP" sz="2400" b="1" dirty="0"/>
              <a:t>Unreal Engine</a:t>
            </a:r>
            <a:r>
              <a:rPr lang="ja-JP" altLang="en-US" sz="2400" dirty="0"/>
              <a:t>と</a:t>
            </a:r>
            <a:r>
              <a:rPr lang="en-US" altLang="ja-JP" sz="2400" b="1" dirty="0">
                <a:solidFill>
                  <a:srgbClr val="7030A0"/>
                </a:solidFill>
              </a:rPr>
              <a:t>Visual Studio</a:t>
            </a:r>
            <a:r>
              <a:rPr lang="ja-JP" altLang="en-US" sz="2400" dirty="0"/>
              <a:t>はなんと。。</a:t>
            </a:r>
            <a:endParaRPr lang="en-US" altLang="ja-JP" sz="2400" dirty="0"/>
          </a:p>
        </p:txBody>
      </p:sp>
      <p:sp>
        <p:nvSpPr>
          <p:cNvPr id="2" name="爆発: 8 pt 1">
            <a:extLst>
              <a:ext uri="{FF2B5EF4-FFF2-40B4-BE49-F238E27FC236}">
                <a16:creationId xmlns:a16="http://schemas.microsoft.com/office/drawing/2014/main" id="{CC1A936E-A2FE-4C42-8F9D-C7A39772A4F7}"/>
              </a:ext>
            </a:extLst>
          </p:cNvPr>
          <p:cNvSpPr/>
          <p:nvPr/>
        </p:nvSpPr>
        <p:spPr>
          <a:xfrm>
            <a:off x="567542" y="1678094"/>
            <a:ext cx="5841999" cy="3439606"/>
          </a:xfrm>
          <a:prstGeom prst="irregularSeal1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6000" b="1" dirty="0">
                <a:solidFill>
                  <a:srgbClr val="FF0000"/>
                </a:solidFill>
              </a:rPr>
              <a:t>無料！！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B91442-0F68-4810-9016-039FA293F10E}"/>
              </a:ext>
            </a:extLst>
          </p:cNvPr>
          <p:cNvSpPr txBox="1"/>
          <p:nvPr/>
        </p:nvSpPr>
        <p:spPr>
          <a:xfrm>
            <a:off x="6409541" y="471824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です！！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1083F06-BD6B-487F-9DAE-F30BFCA1754F}"/>
              </a:ext>
            </a:extLst>
          </p:cNvPr>
          <p:cNvSpPr txBox="1"/>
          <p:nvPr/>
        </p:nvSpPr>
        <p:spPr>
          <a:xfrm>
            <a:off x="567542" y="5455889"/>
            <a:ext cx="75713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ぜひ、お家のパソコンにもインストールして、</a:t>
            </a:r>
            <a:endParaRPr lang="en-US" altLang="ja-JP" sz="2400" dirty="0"/>
          </a:p>
          <a:p>
            <a:r>
              <a:rPr lang="ja-JP" altLang="en-US" sz="2400" dirty="0"/>
              <a:t>すぐにでも本格的なゲーム制作を体験しましょう！！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91053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351</TotalTime>
  <Words>771</Words>
  <Application>Microsoft Office PowerPoint</Application>
  <PresentationFormat>ワイド画面</PresentationFormat>
  <Paragraphs>109</Paragraphs>
  <Slides>22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2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44</cp:revision>
  <dcterms:created xsi:type="dcterms:W3CDTF">2024-08-27T02:15:54Z</dcterms:created>
  <dcterms:modified xsi:type="dcterms:W3CDTF">2025-07-07T01:33:15Z</dcterms:modified>
</cp:coreProperties>
</file>